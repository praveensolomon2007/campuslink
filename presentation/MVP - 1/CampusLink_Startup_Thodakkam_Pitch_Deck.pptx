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594360"/>
            <a:ext cx="4114800" cy="4114800"/>
          </a:xfrm>
          <a:prstGeom prst="ellipse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182880"/>
            <a:ext cx="2560320" cy="25603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731520"/>
            <a:ext cx="1463040" cy="1463040"/>
          </a:xfrm>
          <a:prstGeom prst="ellipse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7132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FD7DE"/>
                </a:solidFill>
                <a:latin typeface="Aptos"/>
              </a:rPr>
              <a:t>STARTUP THODAKKAM'26  /  IDEA-LEVEL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7724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800" b="1" i="0">
                <a:solidFill>
                  <a:srgbClr val="F8FAFC"/>
                </a:solidFill>
                <a:latin typeface="Aptos"/>
              </a:rPr>
              <a:t>CampusLink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658368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0" i="0">
                <a:solidFill>
                  <a:srgbClr val="F8FAFC"/>
                </a:solidFill>
                <a:latin typeface="Aptos"/>
              </a:rPr>
              <a:t>Where Opportunities</a:t>
            </a:r>
          </a:p>
          <a:p>
            <a:pPr algn="l">
              <a:spcAft>
                <a:spcPts val="500"/>
              </a:spcAft>
            </a:pPr>
            <a:r>
              <a:rPr sz="2700" b="0" i="0">
                <a:solidFill>
                  <a:srgbClr val="F8FAFC"/>
                </a:solidFill>
                <a:latin typeface="Aptos"/>
              </a:rPr>
              <a:t>Meet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794760"/>
            <a:ext cx="7040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AEBCCF"/>
                </a:solidFill>
                <a:latin typeface="Aptos"/>
              </a:rPr>
              <a:t>An AI-powered campus opportunity &amp; participation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00600"/>
            <a:ext cx="2971800" cy="566928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65192"/>
            <a:ext cx="2697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DISCOVER  →  CONNECT  →  PARTICIPATE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126480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EBCCF"/>
                </a:solidFill>
                <a:latin typeface="Aptos"/>
              </a:rPr>
              <a:t>Team CampusLink  •  SRMIST Ramapuram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Opportunities exist. Access to them is fragmented.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Students often need to search across multiple channels—and still may not know whom to ask or team up with.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2514600" cy="13258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64008" cy="1325880"/>
          </a:xfrm>
          <a:prstGeom prst="rect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POSTERS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70632"/>
            <a:ext cx="21488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Information on 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1" y="260604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AEBCCF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148840"/>
            <a:ext cx="2514600" cy="13258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2148840"/>
            <a:ext cx="64008" cy="1325880"/>
          </a:xfrm>
          <a:prstGeom prst="rect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31343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GROUP CHATS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770632"/>
            <a:ext cx="21488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Messages get buried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1" y="260604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AEBCCF"/>
                </a:solidFill>
                <a:latin typeface="Aptos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48840"/>
            <a:ext cx="2514600" cy="13258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148840"/>
            <a:ext cx="64008" cy="13258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31343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SOCIAL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70632"/>
            <a:ext cx="21488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Updates are scattered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60604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AEBCCF"/>
                </a:solidFill>
                <a:latin typeface="Aptos"/>
              </a:rP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2148840"/>
            <a:ext cx="2514600" cy="13258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2148840"/>
            <a:ext cx="64008" cy="1325880"/>
          </a:xfrm>
          <a:prstGeom prst="rect">
            <a:avLst/>
          </a:prstGeom>
          <a:solidFill>
            <a:srgbClr val="53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31343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WORD OF MOUTH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770632"/>
            <a:ext cx="2148840" cy="5943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Depends on who you know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89320" y="3749039"/>
            <a:ext cx="0" cy="502921"/>
          </a:xfrm>
          <a:prstGeom prst="line">
            <a:avLst/>
          </a:prstGeom>
          <a:ln w="31750">
            <a:solidFill>
              <a:srgbClr val="FF74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65960" y="4315968"/>
            <a:ext cx="8229600" cy="1143000"/>
          </a:xfrm>
          <a:prstGeom prst="roundRect">
            <a:avLst/>
          </a:prstGeom>
          <a:solidFill>
            <a:srgbClr val="37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4681728"/>
            <a:ext cx="7680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F8FAFC"/>
                </a:solidFill>
                <a:latin typeface="Aptos"/>
              </a:rPr>
              <a:t>FRAGMENTED DISCOVERY  →  CONFUSION  →  MISSED PARTICIPATION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15000"/>
            <a:ext cx="795527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3FD7DE"/>
                </a:solidFill>
                <a:latin typeface="Aptos"/>
              </a:rPr>
              <a:t>Core insight: information and people are disconnected.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02 / WHY WE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We experienced the friction ourselves.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The hackathon journey exposed a wider campus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6400800" cy="3337560"/>
          </a:xfrm>
          <a:prstGeom prst="roundRect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5669280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0" i="1">
                <a:solidFill>
                  <a:srgbClr val="F8FAFC"/>
                </a:solidFill>
                <a:latin typeface="Aptos"/>
              </a:rPr>
              <a:t>“I wanted to participate—but I had questions about the requirements, and as a first-year student I didn't already know people across departments to form a team.”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09160"/>
            <a:ext cx="5394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3FD7DE"/>
                </a:solidFill>
                <a:latin typeface="Aptos"/>
              </a:rPr>
              <a:t>A first-hand observation that led to a bigger question: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965960"/>
            <a:ext cx="3886200" cy="3337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560320"/>
            <a:ext cx="3154680" cy="2011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8FAFC"/>
                </a:solidFill>
                <a:latin typeface="Aptos"/>
              </a:rPr>
              <a:t>WHY SHOULD</a:t>
            </a:r>
          </a:p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8FAFC"/>
                </a:solidFill>
                <a:latin typeface="Aptos"/>
              </a:rPr>
              <a:t>PARTICIPATION</a:t>
            </a:r>
          </a:p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8FAFC"/>
                </a:solidFill>
                <a:latin typeface="Aptos"/>
              </a:rPr>
              <a:t>DEPEND ON WHO</a:t>
            </a:r>
          </a:p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F8FAFC"/>
                </a:solidFill>
                <a:latin typeface="Aptos"/>
              </a:rPr>
              <a:t>YOU ALREADY KNOW?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03 /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One campus layer from discovery to participation.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CampusLink brings opportunities, requirements and people into one guided journey.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331720"/>
            <a:ext cx="2487168" cy="21031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2542032"/>
            <a:ext cx="475488" cy="475488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569463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75887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Find events and challenges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00400" y="3337560"/>
            <a:ext cx="246887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38728" y="2331720"/>
            <a:ext cx="2487168" cy="21031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03320" y="2542032"/>
            <a:ext cx="475488" cy="475488"/>
          </a:xfrm>
          <a:prstGeom prst="ellipse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569463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D182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3675887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Get clear requirements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337560"/>
            <a:ext cx="246888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19088" y="2331720"/>
            <a:ext cx="2487168" cy="21031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2542032"/>
            <a:ext cx="475488" cy="475488"/>
          </a:xfrm>
          <a:prstGeom prst="ellips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2569463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75887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Find teams and teammates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61119" y="3337560"/>
            <a:ext cx="246889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99448" y="2331720"/>
            <a:ext cx="2487168" cy="21031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4040" y="2542032"/>
            <a:ext cx="475488" cy="475488"/>
          </a:xfrm>
          <a:prstGeom prst="ellipse">
            <a:avLst/>
          </a:prstGeom>
          <a:solidFill>
            <a:srgbClr val="53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569463"/>
            <a:ext cx="420624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21868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PARTICIPATE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675887"/>
            <a:ext cx="21031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Take the next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57800"/>
            <a:ext cx="9692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3FD7DE"/>
                </a:solidFill>
                <a:latin typeface="Aptos"/>
              </a:rPr>
              <a:t>Not another social network: a practical path from opportunity to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04 /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A focused MVP that demonstrates the core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Prototype scope: demonstrate the essential flow reliably, then validate with students and organizers.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520440" cy="31546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64008" cy="3154680"/>
          </a:xfrm>
          <a:prstGeom prst="rect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3055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STUDENT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87752"/>
            <a:ext cx="315468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Browse opportunity cards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Filter by interest / skill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Open event details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View teams and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20440" cy="31546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64008" cy="3154680"/>
          </a:xfrm>
          <a:prstGeom prst="rect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AI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87752"/>
            <a:ext cx="315468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Ask questions about an event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Receive answers grounded in event details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Explain team-fit suggestions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965960"/>
            <a:ext cx="3520440" cy="315468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965960"/>
            <a:ext cx="64008" cy="315468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213055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ORGANIZER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587752"/>
            <a:ext cx="315468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Create or submit opportunity details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Structure eligibility and deadlines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EBCCF"/>
                </a:solidFill>
                <a:latin typeface="Aptos"/>
              </a:rPr>
              <a:t>• Publish clear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FB547"/>
                </a:solidFill>
                <a:latin typeface="Aptos"/>
              </a:rPr>
              <a:t>Prototype honesty: we will clearly distinguish working features from planned features during the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05 / WHAT AI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AI should reduce confusion—not invent facts.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The answer should be based on information supplied by the event organizer.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2834640" cy="16459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4C89FF"/>
                </a:solidFill>
                <a:latin typeface="Aptos"/>
              </a:rPr>
              <a:t>EVENT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Description • eligibility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team size • deadline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3154680"/>
            <a:ext cx="530352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2331720"/>
            <a:ext cx="2834640" cy="16459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6060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3FD7DE"/>
                </a:solidFill>
                <a:latin typeface="Aptos"/>
              </a:rPr>
              <a:t>RETRIEVE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90672"/>
            <a:ext cx="23774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Find relevant event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information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3154680"/>
            <a:ext cx="530352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2331720"/>
            <a:ext cx="2834640" cy="164592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2606040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53D39F"/>
                </a:solidFill>
                <a:latin typeface="Aptos"/>
              </a:rPr>
              <a:t>AI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90672"/>
            <a:ext cx="23774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Answer the student's</a:t>
            </a:r>
          </a:p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question with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663440"/>
            <a:ext cx="8412480" cy="777240"/>
          </a:xfrm>
          <a:prstGeom prst="roundRect">
            <a:avLst/>
          </a:prstGeom>
          <a:solidFill>
            <a:srgbClr val="37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4892040"/>
            <a:ext cx="7955279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 i="0">
                <a:solidFill>
                  <a:srgbClr val="F8FAFC"/>
                </a:solidFill>
                <a:latin typeface="Aptos"/>
              </a:rPr>
              <a:t>GUARDRAIL: If the event data doesn't answer the question, say so and direct the student to the organizer.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715000"/>
            <a:ext cx="8686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3FD7DE"/>
                </a:solidFill>
                <a:latin typeface="Aptos"/>
              </a:rPr>
              <a:t>Team matching can start with transparent rule-based scoring; AI can explain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06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Show one complete student journey.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A short, reliable demonstration is stronger than many unfinished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229514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322575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7744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Open CampusLink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5740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82312" y="229514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9744" y="2322575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37744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Filter opportunities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05740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77072" y="229514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4" y="2322575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7744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Open an event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" y="384962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3877056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93192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Ask an eligibility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61188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82312" y="384962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3877056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93192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View teams / fit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611880"/>
            <a:ext cx="3246120" cy="105156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77072" y="3849624"/>
            <a:ext cx="502920" cy="50292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04504" y="3877056"/>
            <a:ext cx="448056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931920"/>
            <a:ext cx="2148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Take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532120"/>
            <a:ext cx="101498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FB547"/>
                </a:solidFill>
                <a:latin typeface="Aptos"/>
              </a:rPr>
              <a:t>Live demo → backup screenshots → short screen recording. Test the exact path before presenting.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07 / HOW IT CAN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A simple, modular technical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The prototype can start small while keeping clear boundaries between the interface, logic and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94560"/>
            <a:ext cx="2331720" cy="1234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4C89FF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529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React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27248" y="2788920"/>
            <a:ext cx="713232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31920" y="2194560"/>
            <a:ext cx="2331720" cy="1234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2468880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3FD7DE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852928"/>
            <a:ext cx="1965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FastAPI endpoints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82512" y="2788920"/>
            <a:ext cx="704088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78040" y="2194560"/>
            <a:ext cx="1828800" cy="1234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2468880"/>
            <a:ext cx="1600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53D39F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852928"/>
            <a:ext cx="1600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AEBCCF"/>
                </a:solidFill>
                <a:latin typeface="Aptos"/>
              </a:rPr>
              <a:t>PostgreSQL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3520440"/>
            <a:ext cx="0" cy="640080"/>
          </a:xfrm>
          <a:prstGeom prst="line">
            <a:avLst/>
          </a:prstGeom>
          <a:ln w="25400">
            <a:solidFill>
              <a:srgbClr val="FFB5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31920" y="4224528"/>
            <a:ext cx="2331720" cy="960120"/>
          </a:xfrm>
          <a:prstGeom prst="roundRect">
            <a:avLst/>
          </a:prstGeom>
          <a:solidFill>
            <a:srgbClr val="372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4462272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FFB547"/>
                </a:solidFill>
                <a:latin typeface="Aptos"/>
              </a:rPr>
              <a:t>AI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434840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Context-grounded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71500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FFB547"/>
                </a:solidFill>
                <a:latin typeface="Aptos"/>
              </a:rPr>
              <a:t>Architecture shown is the intended design; present only components actually implemented as working.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08 /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Free for students. Valuable for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A potential B2B model: students use the platform freely while organizations pay for tools and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429000" cy="2377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64008" cy="2377440"/>
          </a:xfrm>
          <a:prstGeom prst="rect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306324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Free access to discover opportunities, understand requirements and find teams.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429000" cy="2377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03120"/>
            <a:ext cx="64008" cy="2377440"/>
          </a:xfrm>
          <a:prstGeom prst="rect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2677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COLLEGES &amp; CLUBS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724912"/>
            <a:ext cx="306324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Potential subscription for event publishing, team formation and participation insights.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429000" cy="23774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64008" cy="23774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26771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8FAFC"/>
                </a:solidFill>
                <a:latin typeface="Aptos"/>
              </a:rPr>
              <a:t>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24912"/>
            <a:ext cx="3063240" cy="1645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Potential paid campus challenges, hiring campaigns and multi-campus programs.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F8FAFC"/>
                </a:solidFill>
                <a:latin typeface="Aptos"/>
              </a:rPr>
              <a:t>Validation path: pilot with one campus → measure usage and organizer value → test willingness to pay.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06440"/>
            <a:ext cx="9601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FFB547"/>
                </a:solidFill>
                <a:latin typeface="Aptos"/>
              </a:rPr>
              <a:t>Pricing is not yet validated; we will not present illustrative figures as proven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3FD7DE"/>
                </a:solidFill>
                <a:latin typeface="Aptos"/>
              </a:rPr>
              <a:t>09 / 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F8FAFC"/>
                </a:solidFill>
                <a:latin typeface="Aptos"/>
              </a:rPr>
              <a:t>Start with one campus. Prove participation improves.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AEBCCF"/>
                </a:solidFill>
                <a:latin typeface="Aptos"/>
              </a:rPr>
              <a:t>Our first milestone is not scale—it is evidence that the workflow solves a real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514600" cy="21488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40280"/>
            <a:ext cx="64008" cy="2148840"/>
          </a:xfrm>
          <a:prstGeom prst="rect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40487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6207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One campus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Work with a few clubs and student groups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82111" y="3246120"/>
            <a:ext cx="246889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39" y="2240280"/>
            <a:ext cx="2514600" cy="21488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2240280"/>
            <a:ext cx="64008" cy="2148840"/>
          </a:xfrm>
          <a:prstGeom prst="rect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40487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86207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Track the journey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Views → questions → team requests → participation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62471" y="3246120"/>
            <a:ext cx="246888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240280"/>
            <a:ext cx="2514600" cy="21488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240280"/>
            <a:ext cx="64008" cy="214884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40487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86207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Fix drop-offs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Learn what students and organizers need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42832" y="3246120"/>
            <a:ext cx="246888" cy="0"/>
          </a:xfrm>
          <a:prstGeom prst="line">
            <a:avLst/>
          </a:prstGeom>
          <a:ln w="25400">
            <a:solidFill>
              <a:srgbClr val="3FD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81159" y="2240280"/>
            <a:ext cx="2514600" cy="2148840"/>
          </a:xfrm>
          <a:prstGeom prst="roundRect">
            <a:avLst/>
          </a:prstGeom>
          <a:solidFill>
            <a:srgbClr val="1D2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59" y="2240280"/>
            <a:ext cx="64008" cy="2148840"/>
          </a:xfrm>
          <a:prstGeom prst="rect">
            <a:avLst/>
          </a:prstGeom>
          <a:solidFill>
            <a:srgbClr val="53D3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2328" y="2404872"/>
            <a:ext cx="2148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8FAFC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862072"/>
            <a:ext cx="21488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More campuses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AEBCCF"/>
                </a:solidFill>
                <a:latin typeface="Aptos"/>
              </a:rPr>
              <a:t>Replicate only after the pilot shows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8FAFC"/>
                </a:solidFill>
                <a:latin typeface="Aptos"/>
              </a:rPr>
              <a:t>Metrics to validate: event discovery-to-action rate • unanswered questions • team formation • organizer retention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3200400"/>
            <a:ext cx="4297680" cy="4297680"/>
          </a:xfrm>
          <a:prstGeom prst="ellipse">
            <a:avLst/>
          </a:prstGeom>
          <a:solidFill>
            <a:srgbClr val="16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3931920"/>
            <a:ext cx="2697480" cy="2697480"/>
          </a:xfrm>
          <a:prstGeom prst="ellipse">
            <a:avLst/>
          </a:prstGeom>
          <a:solidFill>
            <a:srgbClr val="4C8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12680" y="4572000"/>
            <a:ext cx="1417320" cy="1417320"/>
          </a:xfrm>
          <a:prstGeom prst="ellipse">
            <a:avLst/>
          </a:prstGeom>
          <a:solidFill>
            <a:srgbClr val="3F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3FD7DE"/>
                </a:solidFill>
                <a:latin typeface="Aptos"/>
              </a:rPr>
              <a:t>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7589520" cy="2560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Make campus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opportunities easier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to find—and easier</a:t>
            </a:r>
          </a:p>
          <a:p>
            <a:pPr algn="l">
              <a:spcAft>
                <a:spcPts val="500"/>
              </a:spcAft>
            </a:pPr>
            <a:r>
              <a:rPr sz="3400" b="1" i="0">
                <a:solidFill>
                  <a:srgbClr val="F8FAFC"/>
                </a:solidFill>
                <a:latin typeface="Aptos"/>
              </a:rPr>
              <a:t>to join.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 i="0">
                <a:solidFill>
                  <a:srgbClr val="F8FAFC"/>
                </a:solidFill>
                <a:latin typeface="Aptos"/>
              </a:rPr>
              <a:t>CampusLink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5010912"/>
            <a:ext cx="5669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EBCCF"/>
                </a:solidFill>
                <a:latin typeface="Aptos"/>
              </a:rPr>
              <a:t>Where Opportunities Meet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5806440"/>
            <a:ext cx="5943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3FD7DE"/>
                </a:solidFill>
                <a:latin typeface="Aptos"/>
              </a:rPr>
              <a:t>Thank you. We welcome your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 i="0">
                <a:solidFill>
                  <a:srgbClr val="AEBCCF"/>
                </a:solidFill>
                <a:latin typeface="Aptos"/>
              </a:rPr>
              <a:t>CAMPUSLINK  •  STARTUP THODAKKAM'26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3FD7D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